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6" r:id="rId10"/>
    <p:sldId id="264" r:id="rId11"/>
    <p:sldId id="265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Crew Management Chatbot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38328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CADCFC"/>
                </a:solidFill>
              </a:defRPr>
            </a:pPr>
            <a:r>
              <a:t>V1 System Architecture &amp; Technical Documentation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72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CADCFC"/>
                </a:solidFill>
              </a:defRPr>
            </a:pPr>
            <a:r>
              <a:t>American Airlines Crew Management System</a:t>
            </a:r>
          </a:p>
          <a:p>
            <a:pPr algn="ctr">
              <a:defRPr sz="1600">
                <a:solidFill>
                  <a:srgbClr val="CADCFC"/>
                </a:solidFill>
              </a:defRPr>
            </a:pPr>
            <a:r>
              <a:t>AI-Powered Natural Language Query Interface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38466" y="5943600"/>
            <a:ext cx="1467068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CADCFC"/>
                </a:solidFill>
              </a:defRPr>
            </a:pPr>
            <a:r>
              <a:rPr lang="en-IN" dirty="0"/>
              <a:t>01 </a:t>
            </a:r>
            <a:r>
              <a:rPr dirty="0"/>
              <a:t>February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E2761"/>
                </a:solidFill>
              </a:defRPr>
            </a:pPr>
            <a:r>
              <a:t>Executive Summary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97280"/>
            <a:ext cx="8229600" cy="0"/>
          </a:xfrm>
          <a:prstGeom prst="line">
            <a:avLst/>
          </a:prstGeom>
          <a:ln w="25400">
            <a:solidFill>
              <a:srgbClr val="CADC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097280" y="1440180"/>
            <a:ext cx="1091966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2761"/>
                </a:solidFill>
              </a:defRPr>
            </a:pPr>
            <a:r>
              <a:rPr dirty="0"/>
              <a:t>What is it?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1805940"/>
            <a:ext cx="6858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12121"/>
                </a:solidFill>
              </a:defRPr>
            </a:pPr>
            <a:r>
              <a:rPr sz="1600" dirty="0"/>
              <a:t>AI-powered conversational interface for crew data queries using natural language instead of SQL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640957"/>
            <a:ext cx="1529586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2761"/>
                </a:solidFill>
              </a:defRPr>
            </a:pPr>
            <a:r>
              <a:rPr dirty="0"/>
              <a:t>Key Capabilities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030023"/>
            <a:ext cx="685800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12121"/>
                </a:solidFill>
              </a:defRPr>
            </a:pPr>
            <a:r>
              <a:rPr sz="1600" dirty="0"/>
              <a:t>• Natural language to SQL conversion</a:t>
            </a:r>
          </a:p>
          <a:p>
            <a:r>
              <a:rPr sz="1600" dirty="0"/>
              <a:t>• Cross-database query execution (4 databases)</a:t>
            </a:r>
          </a:p>
          <a:p>
            <a:r>
              <a:rPr sz="1600" dirty="0"/>
              <a:t>• Self-correcting query engine</a:t>
            </a:r>
          </a:p>
          <a:p>
            <a:r>
              <a:rPr sz="1600" dirty="0"/>
              <a:t>• Context-aware conversations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2329" y="4466117"/>
            <a:ext cx="1451038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2761"/>
                </a:solidFill>
              </a:defRPr>
            </a:pPr>
            <a:r>
              <a:rPr dirty="0"/>
              <a:t>Business Value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2329" y="4932901"/>
            <a:ext cx="685800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12121"/>
                </a:solidFill>
              </a:defRPr>
            </a:pPr>
            <a:r>
              <a:rPr sz="1600" dirty="0"/>
              <a:t>• Reduces query time from minutes to seconds</a:t>
            </a:r>
          </a:p>
          <a:p>
            <a:r>
              <a:rPr sz="1600" dirty="0"/>
              <a:t>• No SQL expertise required</a:t>
            </a:r>
          </a:p>
          <a:p>
            <a:r>
              <a:rPr sz="1600" dirty="0"/>
              <a:t>• Real-time crew data access</a:t>
            </a:r>
          </a:p>
          <a:p>
            <a:r>
              <a:rPr sz="1600" dirty="0"/>
              <a:t>• Secure role-based access control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E2761"/>
                </a:solidFill>
              </a:defRPr>
            </a:pPr>
            <a:r>
              <a:t>System Architecture Overview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97280"/>
            <a:ext cx="8229600" cy="0"/>
          </a:xfrm>
          <a:prstGeom prst="line">
            <a:avLst/>
          </a:prstGeom>
          <a:ln w="25400">
            <a:solidFill>
              <a:srgbClr val="CADC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731520" y="1828800"/>
            <a:ext cx="1828800" cy="1097280"/>
          </a:xfrm>
          <a:prstGeom prst="rect">
            <a:avLst/>
          </a:prstGeom>
          <a:solidFill>
            <a:srgbClr val="CADCFC"/>
          </a:solidFill>
          <a:ln w="19050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91440" rIns="137160" rtlCol="0" anchor="ctr"/>
          <a:lstStyle/>
          <a:p>
            <a:pPr algn="ctr">
              <a:defRPr sz="1400" b="1">
                <a:solidFill>
                  <a:srgbClr val="212121"/>
                </a:solidFill>
              </a:defRPr>
            </a:pPr>
            <a:r>
              <a:t>Frontend Layer</a:t>
            </a:r>
          </a:p>
          <a:p>
            <a:pPr algn="l">
              <a:spcBef>
                <a:spcPts val="600"/>
              </a:spcBef>
              <a:defRPr sz="1000">
                <a:solidFill>
                  <a:srgbClr val="212121"/>
                </a:solidFill>
              </a:defRPr>
            </a:pPr>
            <a:r>
              <a:t>Streamlit Web App</a:t>
            </a:r>
            <a:br/>
            <a:r>
              <a:t>• Chat Interface</a:t>
            </a:r>
            <a:br/>
            <a:r>
              <a:t>• Authentication UI</a:t>
            </a:r>
            <a:br/>
            <a:r>
              <a:t>• SQL Display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0" y="1371600"/>
            <a:ext cx="1828800" cy="2011680"/>
          </a:xfrm>
          <a:prstGeom prst="rect">
            <a:avLst/>
          </a:prstGeom>
          <a:solidFill>
            <a:srgbClr val="1E2761"/>
          </a:solidFill>
          <a:ln w="19050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91440" rIns="137160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Backend Layer</a:t>
            </a:r>
          </a:p>
          <a:p>
            <a:pPr algn="l">
              <a:spcBef>
                <a:spcPts val="600"/>
              </a:spcBef>
              <a:defRPr sz="1000">
                <a:solidFill>
                  <a:srgbClr val="FFFFFF"/>
                </a:solidFill>
              </a:defRPr>
            </a:pPr>
            <a:r>
              <a:t>FastAPI Server</a:t>
            </a:r>
            <a:br/>
            <a:r>
              <a:t>• Authentication (JWT)</a:t>
            </a:r>
            <a:br/>
            <a:r>
              <a:t>• Intent Classification</a:t>
            </a:r>
            <a:br/>
            <a:r>
              <a:t>• Query Rewriting</a:t>
            </a:r>
            <a:br/>
            <a:r>
              <a:t>• SQL Generation</a:t>
            </a:r>
            <a:br/>
            <a:r>
              <a:t>• Result Summarization</a:t>
            </a:r>
            <a:br/>
            <a:r>
              <a:t>• PII Protection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0" y="1828799"/>
            <a:ext cx="1828800" cy="1170037"/>
          </a:xfrm>
          <a:prstGeom prst="rect">
            <a:avLst/>
          </a:prstGeom>
          <a:solidFill>
            <a:srgbClr val="CADCFC"/>
          </a:solidFill>
          <a:ln w="19050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91440" rIns="137160" rtlCol="0" anchor="ctr"/>
          <a:lstStyle/>
          <a:p>
            <a:pPr algn="ctr">
              <a:defRPr sz="1400" b="1">
                <a:solidFill>
                  <a:srgbClr val="212121"/>
                </a:solidFill>
              </a:defRPr>
            </a:pPr>
            <a:r>
              <a:rPr dirty="0"/>
              <a:t>Data Layer</a:t>
            </a:r>
          </a:p>
          <a:p>
            <a:pPr algn="l">
              <a:spcBef>
                <a:spcPts val="600"/>
              </a:spcBef>
              <a:defRPr sz="1000">
                <a:solidFill>
                  <a:srgbClr val="212121"/>
                </a:solidFill>
              </a:defRPr>
            </a:pPr>
            <a:r>
              <a:rPr dirty="0"/>
              <a:t>SQLite Databases</a:t>
            </a:r>
            <a:br>
              <a:rPr dirty="0"/>
            </a:br>
            <a:r>
              <a:rPr dirty="0"/>
              <a:t>• Crew Management</a:t>
            </a:r>
            <a:br>
              <a:rPr dirty="0"/>
            </a:br>
            <a:r>
              <a:rPr dirty="0"/>
              <a:t>• Flight Operations</a:t>
            </a:r>
            <a:br>
              <a:rPr dirty="0"/>
            </a:br>
            <a:r>
              <a:rPr dirty="0"/>
              <a:t>• HR Payroll</a:t>
            </a:r>
            <a:br>
              <a:rPr dirty="0"/>
            </a:br>
            <a:r>
              <a:rPr dirty="0"/>
              <a:t>• Compliance Training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0" y="4114800"/>
            <a:ext cx="1828800" cy="914400"/>
          </a:xfrm>
          <a:prstGeom prst="rect">
            <a:avLst/>
          </a:prstGeom>
          <a:solidFill>
            <a:srgbClr val="2980B9"/>
          </a:solidFill>
          <a:ln w="19050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91440" rIns="137160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rPr dirty="0"/>
              <a:t>External Services</a:t>
            </a:r>
          </a:p>
          <a:p>
            <a:pPr algn="l">
              <a:spcBef>
                <a:spcPts val="600"/>
              </a:spcBef>
              <a:defRPr sz="1000">
                <a:solidFill>
                  <a:srgbClr val="FFFFFF"/>
                </a:solidFill>
              </a:defRPr>
            </a:pPr>
            <a:r>
              <a:rPr dirty="0" err="1"/>
              <a:t>Coforge</a:t>
            </a:r>
            <a:r>
              <a:rPr dirty="0"/>
              <a:t>/Quasar LLM API</a:t>
            </a:r>
            <a:br>
              <a:rPr dirty="0"/>
            </a:br>
            <a:r>
              <a:rPr dirty="0"/>
              <a:t>• Text Generation</a:t>
            </a:r>
            <a:br>
              <a:rPr dirty="0"/>
            </a:br>
            <a:r>
              <a:rPr dirty="0"/>
              <a:t>• Embeddings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560320" y="2377440"/>
            <a:ext cx="1097280" cy="0"/>
          </a:xfrm>
          <a:prstGeom prst="line">
            <a:avLst/>
          </a:prstGeom>
          <a:ln w="25400">
            <a:solidFill>
              <a:srgbClr val="1E27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486400" y="2377440"/>
            <a:ext cx="1097280" cy="0"/>
          </a:xfrm>
          <a:prstGeom prst="line">
            <a:avLst/>
          </a:prstGeom>
          <a:ln w="25400">
            <a:solidFill>
              <a:srgbClr val="1E27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572000" y="3383280"/>
            <a:ext cx="0" cy="731520"/>
          </a:xfrm>
          <a:prstGeom prst="line">
            <a:avLst/>
          </a:prstGeom>
          <a:ln w="25400">
            <a:solidFill>
              <a:srgbClr val="1E27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2651760" y="2151296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212121"/>
                </a:solidFill>
              </a:defRPr>
            </a:pPr>
            <a:r>
              <a:rPr dirty="0"/>
              <a:t>REST API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77840" y="2151296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212121"/>
                </a:solidFill>
              </a:defRPr>
            </a:pPr>
            <a:r>
              <a:rPr dirty="0"/>
              <a:t>SQL Queries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31920" y="370332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212121"/>
                </a:solidFill>
              </a:defRPr>
            </a:pPr>
            <a:r>
              <a:rPr dirty="0"/>
              <a:t>AI Calls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E2761"/>
                </a:solidFill>
              </a:defRPr>
            </a:pPr>
            <a:r>
              <a:t>Request Processing Flow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97280"/>
            <a:ext cx="8229600" cy="0"/>
          </a:xfrm>
          <a:prstGeom prst="line">
            <a:avLst/>
          </a:prstGeom>
          <a:ln w="25400">
            <a:solidFill>
              <a:srgbClr val="CADC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914400" y="1465006"/>
            <a:ext cx="7315200" cy="548640"/>
          </a:xfrm>
          <a:prstGeom prst="rect">
            <a:avLst/>
          </a:prstGeom>
          <a:solidFill>
            <a:srgbClr val="1E2761"/>
          </a:solidFill>
          <a:ln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91440" rtlCol="0" anchor="ctr"/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1. User Input: Natural language query received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0" y="2013646"/>
            <a:ext cx="0" cy="182880"/>
          </a:xfrm>
          <a:prstGeom prst="line">
            <a:avLst/>
          </a:prstGeom>
          <a:ln w="25400">
            <a:solidFill>
              <a:srgbClr val="1E27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914400" y="2196526"/>
            <a:ext cx="7315200" cy="548640"/>
          </a:xfrm>
          <a:prstGeom prst="rect">
            <a:avLst/>
          </a:prstGeom>
          <a:solidFill>
            <a:srgbClr val="CADCFC"/>
          </a:solidFill>
          <a:ln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91440" rtlCol="0" anchor="ctr"/>
          <a:lstStyle/>
          <a:p>
            <a:pPr>
              <a:defRPr sz="1400" b="1">
                <a:solidFill>
                  <a:srgbClr val="212121"/>
                </a:solidFill>
              </a:defRPr>
            </a:pPr>
            <a:r>
              <a:t>2. Authentication: JWT token validation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0" y="2745166"/>
            <a:ext cx="0" cy="182880"/>
          </a:xfrm>
          <a:prstGeom prst="line">
            <a:avLst/>
          </a:prstGeom>
          <a:ln w="25400">
            <a:solidFill>
              <a:srgbClr val="1E27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914400" y="2928046"/>
            <a:ext cx="7315200" cy="548640"/>
          </a:xfrm>
          <a:prstGeom prst="rect">
            <a:avLst/>
          </a:prstGeom>
          <a:solidFill>
            <a:srgbClr val="1E2761"/>
          </a:solidFill>
          <a:ln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91440" rtlCol="0" anchor="ctr"/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3. PII Masking: Protect sensitive information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572000" y="3476686"/>
            <a:ext cx="0" cy="182880"/>
          </a:xfrm>
          <a:prstGeom prst="line">
            <a:avLst/>
          </a:prstGeom>
          <a:ln w="25400">
            <a:solidFill>
              <a:srgbClr val="1E27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914400" y="3659566"/>
            <a:ext cx="7315200" cy="548640"/>
          </a:xfrm>
          <a:prstGeom prst="rect">
            <a:avLst/>
          </a:prstGeom>
          <a:solidFill>
            <a:srgbClr val="CADCFC"/>
          </a:solidFill>
          <a:ln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91440" rtlCol="0" anchor="ctr"/>
          <a:lstStyle/>
          <a:p>
            <a:pPr>
              <a:defRPr sz="1400" b="1">
                <a:solidFill>
                  <a:srgbClr val="212121"/>
                </a:solidFill>
              </a:defRPr>
            </a:pPr>
            <a:r>
              <a:t>4. Intent Classification: Determine query type (DATA/GENERAL)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572000" y="4208206"/>
            <a:ext cx="0" cy="182880"/>
          </a:xfrm>
          <a:prstGeom prst="line">
            <a:avLst/>
          </a:prstGeom>
          <a:ln w="25400">
            <a:solidFill>
              <a:srgbClr val="1E27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914400" y="4391086"/>
            <a:ext cx="7315200" cy="548640"/>
          </a:xfrm>
          <a:prstGeom prst="rect">
            <a:avLst/>
          </a:prstGeom>
          <a:solidFill>
            <a:srgbClr val="1E2761"/>
          </a:solidFill>
          <a:ln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91440" rtlCol="0" anchor="ctr"/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5. Schema Retrieval: FAISS vector search for relevant tables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572000" y="4939726"/>
            <a:ext cx="0" cy="182880"/>
          </a:xfrm>
          <a:prstGeom prst="line">
            <a:avLst/>
          </a:prstGeom>
          <a:ln w="25400">
            <a:solidFill>
              <a:srgbClr val="1E27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914400" y="5122606"/>
            <a:ext cx="7315200" cy="548640"/>
          </a:xfrm>
          <a:prstGeom prst="rect">
            <a:avLst/>
          </a:prstGeom>
          <a:solidFill>
            <a:srgbClr val="CADCFC"/>
          </a:solidFill>
          <a:ln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91440" rtlCol="0" anchor="ctr"/>
          <a:lstStyle/>
          <a:p>
            <a:pPr>
              <a:defRPr sz="1400" b="1">
                <a:solidFill>
                  <a:srgbClr val="212121"/>
                </a:solidFill>
              </a:defRPr>
            </a:pPr>
            <a:r>
              <a:t>6. SQL Generation: LLM converts to SQL query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9A12DDD-82CE-0010-8325-68A9653015C0}"/>
              </a:ext>
            </a:extLst>
          </p:cNvPr>
          <p:cNvSpPr/>
          <p:nvPr/>
        </p:nvSpPr>
        <p:spPr>
          <a:xfrm>
            <a:off x="914400" y="5854126"/>
            <a:ext cx="7315200" cy="548640"/>
          </a:xfrm>
          <a:prstGeom prst="rect">
            <a:avLst/>
          </a:prstGeom>
          <a:solidFill>
            <a:srgbClr val="1E2761"/>
          </a:solidFill>
          <a:ln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91440" rtlCol="0" anchor="ctr"/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rPr lang="en-IN" dirty="0"/>
              <a:t>7</a:t>
            </a:r>
            <a:r>
              <a:rPr dirty="0"/>
              <a:t>. </a:t>
            </a:r>
            <a:r>
              <a:rPr lang="en-IN" dirty="0"/>
              <a:t>Final Outcome: SQL outcome is well formatted and presented by LLM</a:t>
            </a:r>
            <a:endParaRPr dirty="0"/>
          </a:p>
        </p:txBody>
      </p:sp>
      <p:cxnSp>
        <p:nvCxnSpPr>
          <p:cNvPr id="16" name="Connector 12">
            <a:extLst>
              <a:ext uri="{FF2B5EF4-FFF2-40B4-BE49-F238E27FC236}">
                <a16:creationId xmlns:a16="http://schemas.microsoft.com/office/drawing/2014/main" id="{B5E65B75-C893-B6FF-EC33-C1C4DEF10A5E}"/>
              </a:ext>
            </a:extLst>
          </p:cNvPr>
          <p:cNvCxnSpPr/>
          <p:nvPr/>
        </p:nvCxnSpPr>
        <p:spPr>
          <a:xfrm>
            <a:off x="4572000" y="5671246"/>
            <a:ext cx="0" cy="182880"/>
          </a:xfrm>
          <a:prstGeom prst="line">
            <a:avLst/>
          </a:prstGeom>
          <a:ln w="25400">
            <a:solidFill>
              <a:srgbClr val="1E27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7678705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E2761"/>
                </a:solidFill>
              </a:defRPr>
            </a:pPr>
            <a:r>
              <a:rPr dirty="0"/>
              <a:t>Database Architecture</a:t>
            </a:r>
            <a:r>
              <a:rPr lang="en-IN" dirty="0"/>
              <a:t> (Synthetic Data)</a:t>
            </a:r>
            <a:endParaRPr dirty="0"/>
          </a:p>
        </p:txBody>
      </p:sp>
      <p:cxnSp>
        <p:nvCxnSpPr>
          <p:cNvPr id="3" name="Connector 2"/>
          <p:cNvCxnSpPr/>
          <p:nvPr/>
        </p:nvCxnSpPr>
        <p:spPr>
          <a:xfrm>
            <a:off x="457200" y="1097280"/>
            <a:ext cx="8229600" cy="0"/>
          </a:xfrm>
          <a:prstGeom prst="line">
            <a:avLst/>
          </a:prstGeom>
          <a:ln w="25400">
            <a:solidFill>
              <a:srgbClr val="CADC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914400" y="1828800"/>
            <a:ext cx="3200400" cy="1645920"/>
          </a:xfrm>
          <a:prstGeom prst="rect">
            <a:avLst/>
          </a:prstGeom>
          <a:solidFill>
            <a:srgbClr val="CADCFC"/>
          </a:solidFill>
          <a:ln w="25400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137160" rtlCol="0" anchor="ctr"/>
          <a:lstStyle/>
          <a:p>
            <a:pPr>
              <a:defRPr sz="1400" b="1">
                <a:solidFill>
                  <a:srgbClr val="1E2761"/>
                </a:solidFill>
              </a:defRPr>
            </a:pPr>
            <a:r>
              <a:rPr dirty="0"/>
              <a:t>📊 Crew Management</a:t>
            </a:r>
          </a:p>
          <a:p>
            <a:pPr>
              <a:spcBef>
                <a:spcPts val="600"/>
              </a:spcBef>
              <a:defRPr sz="1000">
                <a:solidFill>
                  <a:srgbClr val="212121"/>
                </a:solidFill>
              </a:defRPr>
            </a:pPr>
            <a:r>
              <a:rPr sz="1200" dirty="0"/>
              <a:t>• </a:t>
            </a:r>
            <a:r>
              <a:rPr sz="1200" dirty="0" err="1"/>
              <a:t>crew_members</a:t>
            </a:r>
            <a:br>
              <a:rPr sz="1200" dirty="0"/>
            </a:br>
            <a:r>
              <a:rPr sz="1200" dirty="0"/>
              <a:t>• </a:t>
            </a:r>
            <a:r>
              <a:rPr sz="1200" dirty="0" err="1"/>
              <a:t>crew_qualifications</a:t>
            </a:r>
            <a:br>
              <a:rPr sz="1200" dirty="0"/>
            </a:br>
            <a:r>
              <a:rPr sz="1200" dirty="0"/>
              <a:t>• </a:t>
            </a:r>
            <a:r>
              <a:rPr sz="1200" dirty="0" err="1"/>
              <a:t>crew_assignments</a:t>
            </a:r>
            <a:br>
              <a:rPr sz="1200" dirty="0"/>
            </a:br>
            <a:r>
              <a:rPr sz="1200" dirty="0"/>
              <a:t>• </a:t>
            </a:r>
            <a:r>
              <a:rPr sz="1200" dirty="0" err="1"/>
              <a:t>crew_documents</a:t>
            </a:r>
            <a:endParaRPr sz="1200" dirty="0"/>
          </a:p>
        </p:txBody>
      </p:sp>
      <p:sp>
        <p:nvSpPr>
          <p:cNvPr id="5" name="Rectangle 4"/>
          <p:cNvSpPr/>
          <p:nvPr/>
        </p:nvSpPr>
        <p:spPr>
          <a:xfrm>
            <a:off x="5029200" y="1828800"/>
            <a:ext cx="3200400" cy="1645920"/>
          </a:xfrm>
          <a:prstGeom prst="rect">
            <a:avLst/>
          </a:prstGeom>
          <a:solidFill>
            <a:srgbClr val="CADCFC"/>
          </a:solidFill>
          <a:ln w="25400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137160" rtlCol="0" anchor="ctr"/>
          <a:lstStyle/>
          <a:p>
            <a:pPr>
              <a:defRPr sz="1400" b="1">
                <a:solidFill>
                  <a:srgbClr val="1E2761"/>
                </a:solidFill>
              </a:defRPr>
            </a:pPr>
            <a:r>
              <a:rPr dirty="0"/>
              <a:t>📊 Flight Operations</a:t>
            </a:r>
          </a:p>
          <a:p>
            <a:pPr>
              <a:spcBef>
                <a:spcPts val="600"/>
              </a:spcBef>
              <a:defRPr sz="1000">
                <a:solidFill>
                  <a:srgbClr val="212121"/>
                </a:solidFill>
              </a:defRPr>
            </a:pPr>
            <a:r>
              <a:rPr sz="1200" dirty="0"/>
              <a:t>• flights</a:t>
            </a:r>
            <a:br>
              <a:rPr sz="1200" dirty="0"/>
            </a:br>
            <a:r>
              <a:rPr sz="1200" dirty="0"/>
              <a:t>• aircraft</a:t>
            </a:r>
            <a:br>
              <a:rPr sz="1200" dirty="0"/>
            </a:br>
            <a:r>
              <a:rPr sz="1200" dirty="0"/>
              <a:t>• </a:t>
            </a:r>
            <a:r>
              <a:rPr sz="1200" dirty="0" err="1"/>
              <a:t>crew_pairings</a:t>
            </a:r>
            <a:br>
              <a:rPr sz="1200" dirty="0"/>
            </a:br>
            <a:r>
              <a:rPr sz="1200" dirty="0"/>
              <a:t>• </a:t>
            </a:r>
            <a:r>
              <a:rPr sz="1200" dirty="0" err="1"/>
              <a:t>flight_legs</a:t>
            </a:r>
            <a:endParaRPr sz="1200" dirty="0"/>
          </a:p>
        </p:txBody>
      </p:sp>
      <p:sp>
        <p:nvSpPr>
          <p:cNvPr id="6" name="Rectangle 5"/>
          <p:cNvSpPr/>
          <p:nvPr/>
        </p:nvSpPr>
        <p:spPr>
          <a:xfrm>
            <a:off x="914400" y="4114800"/>
            <a:ext cx="3200400" cy="1645920"/>
          </a:xfrm>
          <a:prstGeom prst="rect">
            <a:avLst/>
          </a:prstGeom>
          <a:solidFill>
            <a:srgbClr val="CADCFC"/>
          </a:solidFill>
          <a:ln w="25400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137160" rtlCol="0" anchor="ctr"/>
          <a:lstStyle/>
          <a:p>
            <a:pPr>
              <a:defRPr sz="1400" b="1">
                <a:solidFill>
                  <a:srgbClr val="1E2761"/>
                </a:solidFill>
              </a:defRPr>
            </a:pPr>
            <a:r>
              <a:rPr dirty="0"/>
              <a:t>📊 HR Payroll</a:t>
            </a:r>
          </a:p>
          <a:p>
            <a:pPr>
              <a:spcBef>
                <a:spcPts val="600"/>
              </a:spcBef>
              <a:defRPr sz="1000">
                <a:solidFill>
                  <a:srgbClr val="212121"/>
                </a:solidFill>
              </a:defRPr>
            </a:pPr>
            <a:r>
              <a:rPr sz="1200" dirty="0"/>
              <a:t>• </a:t>
            </a:r>
            <a:r>
              <a:rPr sz="1200" dirty="0" err="1"/>
              <a:t>payroll_records</a:t>
            </a:r>
            <a:br>
              <a:rPr sz="1200" dirty="0"/>
            </a:br>
            <a:r>
              <a:rPr sz="1200" dirty="0"/>
              <a:t>• timesheets</a:t>
            </a:r>
            <a:br>
              <a:rPr sz="1200" dirty="0"/>
            </a:br>
            <a:r>
              <a:rPr sz="1200" dirty="0"/>
              <a:t>• benefits</a:t>
            </a:r>
            <a:br>
              <a:rPr sz="1200" dirty="0"/>
            </a:br>
            <a:r>
              <a:rPr sz="1200" dirty="0"/>
              <a:t>• deductions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0" y="4114800"/>
            <a:ext cx="3200400" cy="1645920"/>
          </a:xfrm>
          <a:prstGeom prst="rect">
            <a:avLst/>
          </a:prstGeom>
          <a:solidFill>
            <a:srgbClr val="CADCFC"/>
          </a:solidFill>
          <a:ln w="25400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137160" rtlCol="0" anchor="ctr"/>
          <a:lstStyle/>
          <a:p>
            <a:pPr>
              <a:defRPr sz="1400" b="1">
                <a:solidFill>
                  <a:srgbClr val="1E2761"/>
                </a:solidFill>
              </a:defRPr>
            </a:pPr>
            <a:r>
              <a:rPr dirty="0"/>
              <a:t>📊 Compliance Training</a:t>
            </a:r>
          </a:p>
          <a:p>
            <a:pPr>
              <a:spcBef>
                <a:spcPts val="600"/>
              </a:spcBef>
              <a:defRPr sz="1000">
                <a:solidFill>
                  <a:srgbClr val="212121"/>
                </a:solidFill>
              </a:defRPr>
            </a:pPr>
            <a:r>
              <a:rPr sz="1200" dirty="0"/>
              <a:t>• </a:t>
            </a:r>
            <a:r>
              <a:rPr sz="1200" dirty="0" err="1"/>
              <a:t>training_courses</a:t>
            </a:r>
            <a:br>
              <a:rPr sz="1200" dirty="0"/>
            </a:br>
            <a:r>
              <a:rPr sz="1200" dirty="0"/>
              <a:t>• </a:t>
            </a:r>
            <a:r>
              <a:rPr sz="1200" dirty="0" err="1"/>
              <a:t>course_completions</a:t>
            </a:r>
            <a:br>
              <a:rPr sz="1200" dirty="0"/>
            </a:br>
            <a:r>
              <a:rPr sz="1200" dirty="0"/>
              <a:t>• certifications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E2761"/>
                </a:solidFill>
              </a:defRPr>
            </a:pPr>
            <a:r>
              <a:t>Key Technical Components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97280"/>
            <a:ext cx="8229600" cy="0"/>
          </a:xfrm>
          <a:prstGeom prst="line">
            <a:avLst/>
          </a:prstGeom>
          <a:ln w="25400">
            <a:solidFill>
              <a:srgbClr val="CADC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914400" y="1828800"/>
            <a:ext cx="2011680" cy="457200"/>
          </a:xfrm>
          <a:prstGeom prst="rect">
            <a:avLst/>
          </a:prstGeom>
          <a:solidFill>
            <a:srgbClr val="1E2761"/>
          </a:solidFill>
          <a:ln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73152" rtlCol="0" anchor="ctr"/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Intent Router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108960" y="18288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12121"/>
                </a:solidFill>
              </a:defRPr>
            </a:pPr>
            <a:r>
              <a:t>Classifies user queries as DATA, GENERAL, or AMBIGUOUS using LLM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2395728"/>
            <a:ext cx="2011680" cy="457200"/>
          </a:xfrm>
          <a:prstGeom prst="rect">
            <a:avLst/>
          </a:prstGeom>
          <a:solidFill>
            <a:srgbClr val="1E2761"/>
          </a:solidFill>
          <a:ln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73152" rtlCol="0" anchor="ctr"/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Query Rewriter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08960" y="2395728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12121"/>
                </a:solidFill>
              </a:defRPr>
            </a:pPr>
            <a:r>
              <a:t>Handles follow-up questions by incorporating conversation context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962656"/>
            <a:ext cx="2011680" cy="457200"/>
          </a:xfrm>
          <a:prstGeom prst="rect">
            <a:avLst/>
          </a:prstGeom>
          <a:solidFill>
            <a:srgbClr val="1E2761"/>
          </a:solidFill>
          <a:ln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73152" rtlCol="0" anchor="ctr"/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Schema RAG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08960" y="2962656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12121"/>
                </a:solidFill>
              </a:defRPr>
            </a:pPr>
            <a:r>
              <a:t>FAISS vector store finds relevant database tables semantically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3529584"/>
            <a:ext cx="2011680" cy="457200"/>
          </a:xfrm>
          <a:prstGeom prst="rect">
            <a:avLst/>
          </a:prstGeom>
          <a:solidFill>
            <a:srgbClr val="1E2761"/>
          </a:solidFill>
          <a:ln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73152" rtlCol="0" anchor="ctr"/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SQL Generator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0" y="3529584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12121"/>
                </a:solidFill>
              </a:defRPr>
            </a:pPr>
            <a:r>
              <a:t>LLM-powered text-to-SQL with few-shot examples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4096512"/>
            <a:ext cx="2011680" cy="457200"/>
          </a:xfrm>
          <a:prstGeom prst="rect">
            <a:avLst/>
          </a:prstGeom>
          <a:solidFill>
            <a:srgbClr val="1E2761"/>
          </a:solidFill>
          <a:ln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73152" rtlCol="0" anchor="ctr"/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Self-Correction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08960" y="4096512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12121"/>
                </a:solidFill>
              </a:defRPr>
            </a:pPr>
            <a:r>
              <a:t>Automatically fixes SQL errors and retries (max 2 attempts)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4663440"/>
            <a:ext cx="2011680" cy="457200"/>
          </a:xfrm>
          <a:prstGeom prst="rect">
            <a:avLst/>
          </a:prstGeom>
          <a:solidFill>
            <a:srgbClr val="1E2761"/>
          </a:solidFill>
          <a:ln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73152" rtlCol="0" anchor="ctr"/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Result Summarizer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08960" y="46634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12121"/>
                </a:solidFill>
              </a:defRPr>
            </a:pPr>
            <a:r>
              <a:t>Converts raw query results into natural language responses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" y="5230368"/>
            <a:ext cx="2011680" cy="457200"/>
          </a:xfrm>
          <a:prstGeom prst="rect">
            <a:avLst/>
          </a:prstGeom>
          <a:solidFill>
            <a:srgbClr val="1E2761"/>
          </a:solidFill>
          <a:ln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73152" rtlCol="0" anchor="ctr"/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PII Protector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08960" y="5230368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12121"/>
                </a:solidFill>
              </a:defRPr>
            </a:pPr>
            <a:r>
              <a:t>Masks/unmasks sensitive data (names, emails, SSN) in processing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4400" y="5797296"/>
            <a:ext cx="2011680" cy="457200"/>
          </a:xfrm>
          <a:prstGeom prst="rect">
            <a:avLst/>
          </a:prstGeom>
          <a:solidFill>
            <a:srgbClr val="1E2761"/>
          </a:solidFill>
          <a:ln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73152" rtlCol="0" anchor="ctr"/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Conversation Manager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08960" y="5797296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12121"/>
                </a:solidFill>
              </a:defRPr>
            </a:pPr>
            <a:r>
              <a:t>Maintains context across multiple turns in a conversation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E2761"/>
                </a:solidFill>
              </a:defRPr>
            </a:pPr>
            <a:r>
              <a:t>Technology Stack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97280"/>
            <a:ext cx="8229600" cy="0"/>
          </a:xfrm>
          <a:prstGeom prst="line">
            <a:avLst/>
          </a:prstGeom>
          <a:ln w="25400">
            <a:solidFill>
              <a:srgbClr val="CADC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914400" y="2011680"/>
            <a:ext cx="2286000" cy="457200"/>
          </a:xfrm>
          <a:prstGeom prst="rect">
            <a:avLst/>
          </a:prstGeom>
          <a:solidFill>
            <a:srgbClr val="1E2761"/>
          </a:solidFill>
          <a:ln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91440"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Frontend &amp; Core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2468880"/>
            <a:ext cx="228600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182880" rtlCol="0" anchor="ctr"/>
          <a:lstStyle/>
          <a:p>
            <a:pPr>
              <a:spcBef>
                <a:spcPts val="800"/>
              </a:spcBef>
              <a:defRPr sz="1200">
                <a:solidFill>
                  <a:srgbClr val="212121"/>
                </a:solidFill>
              </a:defRPr>
            </a:pPr>
            <a:r>
              <a:t>• Streamlit (UI)</a:t>
            </a:r>
          </a:p>
          <a:p>
            <a:pPr>
              <a:spcBef>
                <a:spcPts val="800"/>
              </a:spcBef>
              <a:defRPr sz="1200">
                <a:solidFill>
                  <a:srgbClr val="212121"/>
                </a:solidFill>
              </a:defRPr>
            </a:pPr>
            <a:r>
              <a:t>• FastAPI (API)</a:t>
            </a:r>
          </a:p>
          <a:p>
            <a:pPr>
              <a:spcBef>
                <a:spcPts val="800"/>
              </a:spcBef>
              <a:defRPr sz="1200">
                <a:solidFill>
                  <a:srgbClr val="212121"/>
                </a:solidFill>
              </a:defRPr>
            </a:pPr>
            <a:r>
              <a:t>• Python 3.10+</a:t>
            </a:r>
          </a:p>
          <a:p>
            <a:pPr>
              <a:spcBef>
                <a:spcPts val="800"/>
              </a:spcBef>
              <a:defRPr sz="1200">
                <a:solidFill>
                  <a:srgbClr val="212121"/>
                </a:solidFill>
              </a:defRPr>
            </a:pPr>
            <a:r>
              <a:t>• Pydantic (Validation)</a:t>
            </a:r>
          </a:p>
        </p:txBody>
      </p:sp>
      <p:sp>
        <p:nvSpPr>
          <p:cNvPr id="6" name="Rectangle 5"/>
          <p:cNvSpPr/>
          <p:nvPr/>
        </p:nvSpPr>
        <p:spPr>
          <a:xfrm>
            <a:off x="3474720" y="2011680"/>
            <a:ext cx="2286000" cy="457200"/>
          </a:xfrm>
          <a:prstGeom prst="rect">
            <a:avLst/>
          </a:prstGeom>
          <a:solidFill>
            <a:srgbClr val="1E2761"/>
          </a:solidFill>
          <a:ln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91440"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AI &amp; Data Processing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3474720" y="2468880"/>
            <a:ext cx="228600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182880" rtlCol="0" anchor="ctr"/>
          <a:lstStyle/>
          <a:p>
            <a:pPr>
              <a:spcBef>
                <a:spcPts val="800"/>
              </a:spcBef>
              <a:defRPr sz="1200">
                <a:solidFill>
                  <a:srgbClr val="212121"/>
                </a:solidFill>
              </a:defRPr>
            </a:pPr>
            <a:r>
              <a:t>• Coforge/Quasar API</a:t>
            </a:r>
          </a:p>
          <a:p>
            <a:pPr>
              <a:spcBef>
                <a:spcPts val="800"/>
              </a:spcBef>
              <a:defRPr sz="1200">
                <a:solidFill>
                  <a:srgbClr val="212121"/>
                </a:solidFill>
              </a:defRPr>
            </a:pPr>
            <a:r>
              <a:t>• FAISS (Vector Store)</a:t>
            </a:r>
          </a:p>
          <a:p>
            <a:pPr>
              <a:spcBef>
                <a:spcPts val="800"/>
              </a:spcBef>
              <a:defRPr sz="1200">
                <a:solidFill>
                  <a:srgbClr val="212121"/>
                </a:solidFill>
              </a:defRPr>
            </a:pPr>
            <a:r>
              <a:t>• SQLite (Database)</a:t>
            </a:r>
          </a:p>
          <a:p>
            <a:pPr>
              <a:spcBef>
                <a:spcPts val="800"/>
              </a:spcBef>
              <a:defRPr sz="1200">
                <a:solidFill>
                  <a:srgbClr val="212121"/>
                </a:solidFill>
              </a:defRPr>
            </a:pPr>
            <a:r>
              <a:t>• Numpy (Arrays)</a:t>
            </a:r>
          </a:p>
        </p:txBody>
      </p:sp>
      <p:sp>
        <p:nvSpPr>
          <p:cNvPr id="8" name="Rectangle 7"/>
          <p:cNvSpPr/>
          <p:nvPr/>
        </p:nvSpPr>
        <p:spPr>
          <a:xfrm>
            <a:off x="6035040" y="2011680"/>
            <a:ext cx="2286000" cy="457200"/>
          </a:xfrm>
          <a:prstGeom prst="rect">
            <a:avLst/>
          </a:prstGeom>
          <a:solidFill>
            <a:srgbClr val="1E2761"/>
          </a:solidFill>
          <a:ln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91440"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Security &amp; Utilities</a:t>
            </a:r>
          </a:p>
        </p:txBody>
      </p:sp>
      <p:sp>
        <p:nvSpPr>
          <p:cNvPr id="9" name="Rectangle 8"/>
          <p:cNvSpPr/>
          <p:nvPr/>
        </p:nvSpPr>
        <p:spPr>
          <a:xfrm>
            <a:off x="6035040" y="2468880"/>
            <a:ext cx="228600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182880" rtlCol="0" anchor="ctr"/>
          <a:lstStyle/>
          <a:p>
            <a:pPr>
              <a:spcBef>
                <a:spcPts val="800"/>
              </a:spcBef>
              <a:defRPr sz="1200">
                <a:solidFill>
                  <a:srgbClr val="212121"/>
                </a:solidFill>
              </a:defRPr>
            </a:pPr>
            <a:r>
              <a:t>• JWT (Authentication)</a:t>
            </a:r>
          </a:p>
          <a:p>
            <a:pPr>
              <a:spcBef>
                <a:spcPts val="800"/>
              </a:spcBef>
              <a:defRPr sz="1200">
                <a:solidFill>
                  <a:srgbClr val="212121"/>
                </a:solidFill>
              </a:defRPr>
            </a:pPr>
            <a:r>
              <a:t>• Python-dotenv</a:t>
            </a:r>
          </a:p>
          <a:p>
            <a:pPr>
              <a:spcBef>
                <a:spcPts val="800"/>
              </a:spcBef>
              <a:defRPr sz="1200">
                <a:solidFill>
                  <a:srgbClr val="212121"/>
                </a:solidFill>
              </a:defRPr>
            </a:pPr>
            <a:r>
              <a:t>• Requests (HTTP)</a:t>
            </a:r>
          </a:p>
          <a:p>
            <a:pPr>
              <a:spcBef>
                <a:spcPts val="800"/>
              </a:spcBef>
              <a:defRPr sz="1200">
                <a:solidFill>
                  <a:srgbClr val="212121"/>
                </a:solidFill>
              </a:defRPr>
            </a:pPr>
            <a:r>
              <a:t>• Uvicorn (Server)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E2761"/>
                </a:solidFill>
              </a:defRPr>
            </a:pPr>
            <a:r>
              <a:t>Security &amp; Privacy Features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97280"/>
            <a:ext cx="8229600" cy="0"/>
          </a:xfrm>
          <a:prstGeom prst="line">
            <a:avLst/>
          </a:prstGeom>
          <a:ln w="25400">
            <a:solidFill>
              <a:srgbClr val="CADC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143000" y="1816434"/>
            <a:ext cx="1859548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2761"/>
                </a:solidFill>
              </a:defRPr>
            </a:pPr>
            <a:r>
              <a:rPr dirty="0"/>
              <a:t>JWT Authentication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2195920"/>
            <a:ext cx="6858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12121"/>
                </a:solidFill>
              </a:defRPr>
            </a:pPr>
            <a:r>
              <a:rPr sz="1600" dirty="0"/>
              <a:t>Token-based authentication with configurable expiration</a:t>
            </a:r>
          </a:p>
          <a:p>
            <a:r>
              <a:rPr sz="1600" dirty="0"/>
              <a:t>Secure session management across frontend and backend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036694"/>
            <a:ext cx="2289409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2761"/>
                </a:solidFill>
              </a:defRPr>
            </a:pPr>
            <a:r>
              <a:rPr dirty="0"/>
              <a:t>SQL Injection Prevention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3465988"/>
            <a:ext cx="6858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12121"/>
                </a:solidFill>
              </a:defRPr>
            </a:pPr>
            <a:r>
              <a:rPr sz="1600" dirty="0"/>
              <a:t>Whitelist-based validation: Only SELECT statements allowed</a:t>
            </a:r>
          </a:p>
          <a:p>
            <a:r>
              <a:rPr sz="1600" dirty="0"/>
              <a:t>Forbidden operations: DROP, DELETE, UPDATE, INSERT, ALTER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277282"/>
            <a:ext cx="1343638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2761"/>
                </a:solidFill>
              </a:defRPr>
            </a:pPr>
            <a:r>
              <a:rPr dirty="0"/>
              <a:t>PII Protection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4677096"/>
            <a:ext cx="685800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12121"/>
                </a:solidFill>
              </a:defRPr>
            </a:pPr>
            <a:r>
              <a:rPr sz="1600" dirty="0"/>
              <a:t>Automatic detection and masking of:</a:t>
            </a:r>
          </a:p>
          <a:p>
            <a:r>
              <a:rPr sz="1600" dirty="0"/>
              <a:t>  • Personal names (PERSON)</a:t>
            </a:r>
          </a:p>
          <a:p>
            <a:r>
              <a:rPr sz="1600" dirty="0"/>
              <a:t>  • Email addresses</a:t>
            </a:r>
          </a:p>
          <a:p>
            <a:r>
              <a:rPr sz="1600" dirty="0"/>
              <a:t>  • Phone numbers</a:t>
            </a:r>
          </a:p>
          <a:p>
            <a:r>
              <a:rPr sz="1600" dirty="0"/>
              <a:t>  • Social Security Numbers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8C48E1-A02B-A0E7-B5D1-8B84367F9B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F64001A-2664-53CF-789C-4E9FDE19F637}"/>
              </a:ext>
            </a:extLst>
          </p:cNvPr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E2761"/>
                </a:solidFill>
              </a:defRPr>
            </a:pPr>
            <a:r>
              <a:t>Security &amp; Privacy Features</a:t>
            </a:r>
          </a:p>
        </p:txBody>
      </p:sp>
      <p:cxnSp>
        <p:nvCxnSpPr>
          <p:cNvPr id="3" name="Connector 2">
            <a:extLst>
              <a:ext uri="{FF2B5EF4-FFF2-40B4-BE49-F238E27FC236}">
                <a16:creationId xmlns:a16="http://schemas.microsoft.com/office/drawing/2014/main" id="{C770F233-01D7-9E76-7159-9D7D3E260C46}"/>
              </a:ext>
            </a:extLst>
          </p:cNvPr>
          <p:cNvCxnSpPr/>
          <p:nvPr/>
        </p:nvCxnSpPr>
        <p:spPr>
          <a:xfrm>
            <a:off x="457200" y="1097280"/>
            <a:ext cx="8229600" cy="0"/>
          </a:xfrm>
          <a:prstGeom prst="line">
            <a:avLst/>
          </a:prstGeom>
          <a:ln w="25400">
            <a:solidFill>
              <a:srgbClr val="CADC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1D6336BA-DD15-946E-708C-0B11409BEEB9}"/>
              </a:ext>
            </a:extLst>
          </p:cNvPr>
          <p:cNvSpPr txBox="1"/>
          <p:nvPr/>
        </p:nvSpPr>
        <p:spPr>
          <a:xfrm>
            <a:off x="900635" y="1796354"/>
            <a:ext cx="1747594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2761"/>
                </a:solidFill>
              </a:defRPr>
            </a:pPr>
            <a:r>
              <a:rPr dirty="0"/>
              <a:t>Role-Based Access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6644279-193E-379A-1EBB-CDA8D04625F8}"/>
              </a:ext>
            </a:extLst>
          </p:cNvPr>
          <p:cNvSpPr txBox="1"/>
          <p:nvPr/>
        </p:nvSpPr>
        <p:spPr>
          <a:xfrm>
            <a:off x="900635" y="2171700"/>
            <a:ext cx="6858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12121"/>
                </a:solidFill>
              </a:defRPr>
            </a:pPr>
            <a:r>
              <a:rPr sz="1600" dirty="0"/>
              <a:t>User roles stored in JWT payload</a:t>
            </a:r>
          </a:p>
          <a:p>
            <a:r>
              <a:rPr sz="1600" dirty="0"/>
              <a:t>Endpoint-level authorization checks</a:t>
            </a:r>
          </a:p>
          <a:p>
            <a:r>
              <a:rPr sz="1600" dirty="0"/>
              <a:t>Different access levels for admin vs. regular users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4A0E763-0159-1C57-7291-F596D8178482}"/>
              </a:ext>
            </a:extLst>
          </p:cNvPr>
          <p:cNvSpPr txBox="1"/>
          <p:nvPr/>
        </p:nvSpPr>
        <p:spPr>
          <a:xfrm>
            <a:off x="900635" y="3263983"/>
            <a:ext cx="1481496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2761"/>
                </a:solidFill>
              </a:defRPr>
            </a:pPr>
            <a:r>
              <a:rPr dirty="0"/>
              <a:t>Query Auditing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231C4FE-CC06-5916-E887-9AEE4B613436}"/>
              </a:ext>
            </a:extLst>
          </p:cNvPr>
          <p:cNvSpPr txBox="1"/>
          <p:nvPr/>
        </p:nvSpPr>
        <p:spPr>
          <a:xfrm>
            <a:off x="900635" y="3744862"/>
            <a:ext cx="6858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12121"/>
                </a:solidFill>
              </a:defRPr>
            </a:pPr>
            <a:r>
              <a:rPr sz="1600" dirty="0"/>
              <a:t>All queries logged with timestamps</a:t>
            </a:r>
          </a:p>
          <a:p>
            <a:r>
              <a:rPr sz="1600" dirty="0"/>
              <a:t>Conversation history maintained</a:t>
            </a:r>
          </a:p>
          <a:p>
            <a:r>
              <a:rPr sz="1600" dirty="0"/>
              <a:t>Feedback tracking (thumbs up/down)</a:t>
            </a:r>
          </a:p>
        </p:txBody>
      </p:sp>
    </p:spTree>
    <p:extLst>
      <p:ext uri="{BB962C8B-B14F-4D97-AF65-F5344CB8AC3E}">
        <p14:creationId xmlns:p14="http://schemas.microsoft.com/office/powerpoint/2010/main" val="15843514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E2761"/>
                </a:solidFill>
              </a:defRPr>
            </a:pPr>
            <a:r>
              <a:t>API Endpoints Reference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97280"/>
            <a:ext cx="8229600" cy="0"/>
          </a:xfrm>
          <a:prstGeom prst="line">
            <a:avLst/>
          </a:prstGeom>
          <a:ln w="25400">
            <a:solidFill>
              <a:srgbClr val="CADC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914400" y="1828800"/>
            <a:ext cx="2926080" cy="365760"/>
          </a:xfrm>
          <a:prstGeom prst="rect">
            <a:avLst/>
          </a:prstGeom>
          <a:solidFill>
            <a:srgbClr val="1E2761"/>
          </a:solidFill>
          <a:ln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000" b="1">
                <a:solidFill>
                  <a:srgbClr val="FFFFFF"/>
                </a:solidFill>
                <a:latin typeface="Consolas"/>
              </a:defRPr>
            </a:pPr>
            <a:r>
              <a:t>POST /api/auth/login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23360" y="182880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User authentication, returns JWT token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2267712"/>
            <a:ext cx="2926080" cy="365760"/>
          </a:xfrm>
          <a:prstGeom prst="rect">
            <a:avLst/>
          </a:prstGeom>
          <a:solidFill>
            <a:srgbClr val="1E2761"/>
          </a:solidFill>
          <a:ln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000" b="1">
                <a:solidFill>
                  <a:srgbClr val="FFFFFF"/>
                </a:solidFill>
                <a:latin typeface="Consolas"/>
              </a:defRPr>
            </a:pPr>
            <a:r>
              <a:t>POST /api/auth/register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23360" y="2267712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Create new user account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706624"/>
            <a:ext cx="2926080" cy="365760"/>
          </a:xfrm>
          <a:prstGeom prst="rect">
            <a:avLst/>
          </a:prstGeom>
          <a:solidFill>
            <a:srgbClr val="2980B9"/>
          </a:solidFill>
          <a:ln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000" b="1">
                <a:solidFill>
                  <a:srgbClr val="FFFFFF"/>
                </a:solidFill>
                <a:latin typeface="Consolas"/>
              </a:defRPr>
            </a:pPr>
            <a:r>
              <a:t>GET /api/auth/me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23360" y="2706624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Get current user information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3145536"/>
            <a:ext cx="2926080" cy="365760"/>
          </a:xfrm>
          <a:prstGeom prst="rect">
            <a:avLst/>
          </a:prstGeom>
          <a:solidFill>
            <a:srgbClr val="1E2761"/>
          </a:solidFill>
          <a:ln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000" b="1">
                <a:solidFill>
                  <a:srgbClr val="FFFFFF"/>
                </a:solidFill>
                <a:latin typeface="Consolas"/>
              </a:defRPr>
            </a:pPr>
            <a:r>
              <a:t>POST /api/chat/message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23360" y="3145536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Send chat message, get AI response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3584448"/>
            <a:ext cx="2926080" cy="365760"/>
          </a:xfrm>
          <a:prstGeom prst="rect">
            <a:avLst/>
          </a:prstGeom>
          <a:solidFill>
            <a:srgbClr val="2980B9"/>
          </a:solidFill>
          <a:ln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000" b="1">
                <a:solidFill>
                  <a:srgbClr val="FFFFFF"/>
                </a:solidFill>
                <a:latin typeface="Consolas"/>
              </a:defRPr>
            </a:pPr>
            <a:r>
              <a:t>GET /api/chat/history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23360" y="3584448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Retrieve conversation history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4023360"/>
            <a:ext cx="2926080" cy="365760"/>
          </a:xfrm>
          <a:prstGeom prst="rect">
            <a:avLst/>
          </a:prstGeom>
          <a:solidFill>
            <a:srgbClr val="1E2761"/>
          </a:solidFill>
          <a:ln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000" b="1">
                <a:solidFill>
                  <a:srgbClr val="FFFFFF"/>
                </a:solidFill>
                <a:latin typeface="Consolas"/>
              </a:defRPr>
            </a:pPr>
            <a:r>
              <a:t>POST /api/chat/feedback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23360" y="402336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Submit thumbs up/down feedback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" y="4462272"/>
            <a:ext cx="2926080" cy="365760"/>
          </a:xfrm>
          <a:prstGeom prst="rect">
            <a:avLst/>
          </a:prstGeom>
          <a:solidFill>
            <a:srgbClr val="2980B9"/>
          </a:solidFill>
          <a:ln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000" b="1">
                <a:solidFill>
                  <a:srgbClr val="FFFFFF"/>
                </a:solidFill>
                <a:latin typeface="Consolas"/>
              </a:defRPr>
            </a:pPr>
            <a:r>
              <a:t>GET /api/health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23360" y="4462272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Health check endpoint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4400" y="4901184"/>
            <a:ext cx="2926080" cy="365760"/>
          </a:xfrm>
          <a:prstGeom prst="rect">
            <a:avLst/>
          </a:prstGeom>
          <a:solidFill>
            <a:srgbClr val="2980B9"/>
          </a:solidFill>
          <a:ln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000" b="1">
                <a:solidFill>
                  <a:srgbClr val="FFFFFF"/>
                </a:solidFill>
                <a:latin typeface="Consolas"/>
              </a:defRPr>
            </a:pPr>
            <a:r>
              <a:t>GET /api/database/tables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23360" y="4901184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List all available database tables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4400" y="5340096"/>
            <a:ext cx="2926080" cy="365760"/>
          </a:xfrm>
          <a:prstGeom prst="rect">
            <a:avLst/>
          </a:prstGeom>
          <a:solidFill>
            <a:srgbClr val="1E2761"/>
          </a:solidFill>
          <a:ln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000" b="1">
                <a:solidFill>
                  <a:srgbClr val="FFFFFF"/>
                </a:solidFill>
                <a:latin typeface="Consolas"/>
              </a:defRPr>
            </a:pPr>
            <a:r>
              <a:t>POST /api/v2/chat/message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23360" y="5340096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V2 endpoint (PostgreSQL support)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4400" y="5779008"/>
            <a:ext cx="2926080" cy="365760"/>
          </a:xfrm>
          <a:prstGeom prst="rect">
            <a:avLst/>
          </a:prstGeom>
          <a:solidFill>
            <a:srgbClr val="2980B9"/>
          </a:solidFill>
          <a:ln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000" b="1">
                <a:solidFill>
                  <a:srgbClr val="FFFFFF"/>
                </a:solidFill>
                <a:latin typeface="Consolas"/>
              </a:defRPr>
            </a:pPr>
            <a:r>
              <a:t>GET /api/v2/chat/schema/info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23360" y="5779008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Get database schema statistics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E2761"/>
                </a:solidFill>
              </a:defRPr>
            </a:pPr>
            <a:r>
              <a:t>Performance Metrics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97280"/>
            <a:ext cx="8229600" cy="0"/>
          </a:xfrm>
          <a:prstGeom prst="line">
            <a:avLst/>
          </a:prstGeom>
          <a:ln w="25400">
            <a:solidFill>
              <a:srgbClr val="CADC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914400" y="2011680"/>
            <a:ext cx="2011680" cy="1371600"/>
          </a:xfrm>
          <a:prstGeom prst="rect">
            <a:avLst/>
          </a:prstGeom>
          <a:solidFill>
            <a:srgbClr val="CADCFC"/>
          </a:solidFill>
          <a:ln w="25400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182880" rtlCol="0" anchor="t"/>
          <a:lstStyle/>
          <a:p>
            <a:pPr algn="ctr">
              <a:defRPr sz="3600" b="1">
                <a:solidFill>
                  <a:srgbClr val="1E2761"/>
                </a:solidFill>
              </a:defRPr>
            </a:pPr>
            <a:r>
              <a:rPr dirty="0"/>
              <a:t>15-20s</a:t>
            </a:r>
          </a:p>
          <a:p>
            <a:pPr algn="ctr">
              <a:spcBef>
                <a:spcPts val="800"/>
              </a:spcBef>
              <a:defRPr sz="1200">
                <a:solidFill>
                  <a:srgbClr val="212121"/>
                </a:solidFill>
              </a:defRPr>
            </a:pPr>
            <a:r>
              <a:rPr dirty="0"/>
              <a:t>Typical Response Time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0" y="2011680"/>
            <a:ext cx="2011680" cy="1371600"/>
          </a:xfrm>
          <a:prstGeom prst="rect">
            <a:avLst/>
          </a:prstGeom>
          <a:solidFill>
            <a:srgbClr val="CADCFC"/>
          </a:solidFill>
          <a:ln w="25400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182880" rtlCol="0" anchor="t"/>
          <a:lstStyle/>
          <a:p>
            <a:pPr algn="ctr">
              <a:defRPr sz="3600" b="1">
                <a:solidFill>
                  <a:srgbClr val="1E2761"/>
                </a:solidFill>
              </a:defRPr>
            </a:pPr>
            <a:r>
              <a:t>3-5</a:t>
            </a:r>
          </a:p>
          <a:p>
            <a:pPr algn="ctr">
              <a:spcBef>
                <a:spcPts val="800"/>
              </a:spcBef>
              <a:defRPr sz="1200">
                <a:solidFill>
                  <a:srgbClr val="212121"/>
                </a:solidFill>
              </a:defRPr>
            </a:pPr>
            <a:r>
              <a:t>LLM API Calls per Query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0" y="2011680"/>
            <a:ext cx="2011680" cy="1371600"/>
          </a:xfrm>
          <a:prstGeom prst="rect">
            <a:avLst/>
          </a:prstGeom>
          <a:solidFill>
            <a:srgbClr val="CADCFC"/>
          </a:solidFill>
          <a:ln w="25400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182880" rtlCol="0" anchor="t"/>
          <a:lstStyle/>
          <a:p>
            <a:pPr algn="ctr">
              <a:defRPr sz="3600" b="1">
                <a:solidFill>
                  <a:srgbClr val="1E2761"/>
                </a:solidFill>
              </a:defRPr>
            </a:pPr>
            <a:r>
              <a:t>4</a:t>
            </a:r>
          </a:p>
          <a:p>
            <a:pPr algn="ctr">
              <a:spcBef>
                <a:spcPts val="800"/>
              </a:spcBef>
              <a:defRPr sz="1200">
                <a:solidFill>
                  <a:srgbClr val="212121"/>
                </a:solidFill>
              </a:defRPr>
            </a:pPr>
            <a:r>
              <a:t>Cross-Database Queries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3840480"/>
            <a:ext cx="2011680" cy="1371600"/>
          </a:xfrm>
          <a:prstGeom prst="rect">
            <a:avLst/>
          </a:prstGeom>
          <a:solidFill>
            <a:srgbClr val="CADCFC"/>
          </a:solidFill>
          <a:ln w="25400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182880" rtlCol="0" anchor="t"/>
          <a:lstStyle/>
          <a:p>
            <a:pPr algn="ctr">
              <a:defRPr sz="3600" b="1">
                <a:solidFill>
                  <a:srgbClr val="1E2761"/>
                </a:solidFill>
              </a:defRPr>
            </a:pPr>
            <a:r>
              <a:t>98%</a:t>
            </a:r>
          </a:p>
          <a:p>
            <a:pPr algn="ctr">
              <a:spcBef>
                <a:spcPts val="800"/>
              </a:spcBef>
              <a:defRPr sz="1200">
                <a:solidFill>
                  <a:srgbClr val="212121"/>
                </a:solidFill>
              </a:defRPr>
            </a:pPr>
            <a:r>
              <a:t>SQL Generation Accuracy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0" y="3840480"/>
            <a:ext cx="2011680" cy="1371600"/>
          </a:xfrm>
          <a:prstGeom prst="rect">
            <a:avLst/>
          </a:prstGeom>
          <a:solidFill>
            <a:srgbClr val="CADCFC"/>
          </a:solidFill>
          <a:ln w="25400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182880" rtlCol="0" anchor="t"/>
          <a:lstStyle/>
          <a:p>
            <a:pPr algn="ctr">
              <a:defRPr sz="3600" b="1">
                <a:solidFill>
                  <a:srgbClr val="1E2761"/>
                </a:solidFill>
              </a:defRPr>
            </a:pPr>
            <a:r>
              <a:t>2</a:t>
            </a:r>
          </a:p>
          <a:p>
            <a:pPr algn="ctr">
              <a:spcBef>
                <a:spcPts val="800"/>
              </a:spcBef>
              <a:defRPr sz="1200">
                <a:solidFill>
                  <a:srgbClr val="212121"/>
                </a:solidFill>
              </a:defRPr>
            </a:pPr>
            <a:r>
              <a:t>Auto-Correction Attempts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0" y="3840480"/>
            <a:ext cx="2011680" cy="1371600"/>
          </a:xfrm>
          <a:prstGeom prst="rect">
            <a:avLst/>
          </a:prstGeom>
          <a:solidFill>
            <a:srgbClr val="CADCFC"/>
          </a:solidFill>
          <a:ln w="25400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182880" rtlCol="0" anchor="t"/>
          <a:lstStyle/>
          <a:p>
            <a:pPr algn="ctr">
              <a:defRPr sz="3600" b="1">
                <a:solidFill>
                  <a:srgbClr val="1E2761"/>
                </a:solidFill>
              </a:defRPr>
            </a:pPr>
            <a:r>
              <a:t>100+</a:t>
            </a:r>
          </a:p>
          <a:p>
            <a:pPr algn="ctr">
              <a:spcBef>
                <a:spcPts val="800"/>
              </a:spcBef>
              <a:defRPr sz="1200">
                <a:solidFill>
                  <a:srgbClr val="212121"/>
                </a:solidFill>
              </a:defRPr>
            </a:pPr>
            <a:r>
              <a:t>Tables Supported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753</Words>
  <Application>Microsoft Office PowerPoint</Application>
  <PresentationFormat>On-screen Show (4:3)</PresentationFormat>
  <Paragraphs>136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Jainmiah Shaik</cp:lastModifiedBy>
  <cp:revision>3</cp:revision>
  <dcterms:created xsi:type="dcterms:W3CDTF">2013-01-27T09:14:16Z</dcterms:created>
  <dcterms:modified xsi:type="dcterms:W3CDTF">2026-02-02T18:52:48Z</dcterms:modified>
  <cp:category/>
</cp:coreProperties>
</file>