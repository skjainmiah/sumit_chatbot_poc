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9" r:id="rId2"/>
    <p:sldId id="260" r:id="rId3"/>
    <p:sldId id="256" r:id="rId4"/>
    <p:sldId id="257" r:id="rId5"/>
    <p:sldId id="258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82" autoAdjust="0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101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3494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42510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43000" y="0"/>
            <a:ext cx="6858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 dirty="0"/>
          </a:p>
        </p:txBody>
      </p:sp>
      <p:sp>
        <p:nvSpPr>
          <p:cNvPr id="3" name="Rectangle 2"/>
          <p:cNvSpPr/>
          <p:nvPr/>
        </p:nvSpPr>
        <p:spPr>
          <a:xfrm>
            <a:off x="7658100" y="0"/>
            <a:ext cx="342900" cy="5143500"/>
          </a:xfrm>
          <a:prstGeom prst="rect">
            <a:avLst/>
          </a:prstGeom>
          <a:solidFill>
            <a:srgbClr val="1F6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4" name="TextBox 3"/>
          <p:cNvSpPr txBox="1"/>
          <p:nvPr/>
        </p:nvSpPr>
        <p:spPr>
          <a:xfrm>
            <a:off x="1588770" y="246888"/>
            <a:ext cx="4546566" cy="4847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232323"/>
                </a:solidFill>
                <a:latin typeface="Calibri"/>
              </a:defRPr>
            </a:pPr>
            <a:r>
              <a:rPr sz="2550" dirty="0"/>
              <a:t>Why Coding Agents Matter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2486" y="672085"/>
            <a:ext cx="5900974" cy="2597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50">
                <a:solidFill>
                  <a:srgbClr val="5A5A5A"/>
                </a:solidFill>
                <a:latin typeface="Calibri"/>
              </a:defRPr>
            </a:pPr>
            <a:r>
              <a:rPr sz="1088"/>
              <a:t>Copilot, Codex, Claude Code, Continue, Roo Code — AI LAB is building an enterprise-ready approach.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1602486" y="987552"/>
            <a:ext cx="2708910" cy="34290"/>
          </a:xfrm>
          <a:prstGeom prst="rect">
            <a:avLst/>
          </a:prstGeom>
          <a:solidFill>
            <a:srgbClr val="1F6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8" name="Rounded Rectangle 7"/>
          <p:cNvSpPr/>
          <p:nvPr/>
        </p:nvSpPr>
        <p:spPr>
          <a:xfrm>
            <a:off x="1588770" y="1165861"/>
            <a:ext cx="4080510" cy="7818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9" name="Rectangle 8"/>
          <p:cNvSpPr/>
          <p:nvPr/>
        </p:nvSpPr>
        <p:spPr>
          <a:xfrm>
            <a:off x="1588770" y="1165861"/>
            <a:ext cx="82296" cy="781811"/>
          </a:xfrm>
          <a:prstGeom prst="rect">
            <a:avLst/>
          </a:prstGeom>
          <a:solidFill>
            <a:srgbClr val="1F6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0" name="Oval 9"/>
          <p:cNvSpPr/>
          <p:nvPr/>
        </p:nvSpPr>
        <p:spPr>
          <a:xfrm>
            <a:off x="1760220" y="1344168"/>
            <a:ext cx="425196" cy="425196"/>
          </a:xfrm>
          <a:prstGeom prst="ellipse">
            <a:avLst/>
          </a:prstGeom>
          <a:solidFill>
            <a:srgbClr val="1F6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sz="1200"/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02002" y="1225449"/>
            <a:ext cx="2372316" cy="282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50" b="1">
                <a:solidFill>
                  <a:srgbClr val="232323"/>
                </a:solidFill>
                <a:latin typeface="Calibri"/>
              </a:defRPr>
            </a:pPr>
            <a:r>
              <a:rPr sz="1238" dirty="0"/>
              <a:t>Why coding agents are important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02002" y="1443610"/>
            <a:ext cx="3223260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A5A5A"/>
                </a:solidFill>
                <a:latin typeface="Calibri"/>
              </a:defRPr>
            </a:pPr>
            <a:r>
              <a:rPr sz="975" dirty="0"/>
              <a:t>Automate repetitive SDLC work to accelerate delivery.</a:t>
            </a:r>
          </a:p>
          <a:p>
            <a:pPr>
              <a:defRPr sz="1300">
                <a:solidFill>
                  <a:srgbClr val="5A5A5A"/>
                </a:solidFill>
                <a:latin typeface="Calibri"/>
              </a:defRPr>
            </a:pPr>
            <a:r>
              <a:rPr sz="975" dirty="0"/>
              <a:t>Developers move faster in reading, writing, refactoring, and review.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88770" y="2057400"/>
            <a:ext cx="4080510" cy="781811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4" name="Rectangle 13"/>
          <p:cNvSpPr/>
          <p:nvPr/>
        </p:nvSpPr>
        <p:spPr>
          <a:xfrm>
            <a:off x="1588770" y="2057400"/>
            <a:ext cx="82296" cy="781811"/>
          </a:xfrm>
          <a:prstGeom prst="rect">
            <a:avLst/>
          </a:prstGeom>
          <a:solidFill>
            <a:srgbClr val="0F2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5" name="Oval 14"/>
          <p:cNvSpPr/>
          <p:nvPr/>
        </p:nvSpPr>
        <p:spPr>
          <a:xfrm>
            <a:off x="1760220" y="2235707"/>
            <a:ext cx="425196" cy="425196"/>
          </a:xfrm>
          <a:prstGeom prst="ellipse">
            <a:avLst/>
          </a:prstGeom>
          <a:solidFill>
            <a:srgbClr val="0F2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sz="1200"/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8860" y="2139695"/>
            <a:ext cx="2425408" cy="282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50" b="1">
                <a:solidFill>
                  <a:srgbClr val="232323"/>
                </a:solidFill>
                <a:latin typeface="Calibri"/>
              </a:defRPr>
            </a:pPr>
            <a:r>
              <a:rPr sz="1238"/>
              <a:t>What problems they solve in SDLC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8860" y="2386584"/>
            <a:ext cx="3223260" cy="3924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A5A5A"/>
                </a:solidFill>
                <a:latin typeface="Calibri"/>
              </a:defRPr>
            </a:pPr>
            <a:r>
              <a:rPr sz="975"/>
              <a:t>Boilerplate &amp; scaffolding (CRUD, configs, DTOs).</a:t>
            </a:r>
          </a:p>
          <a:p>
            <a:pPr>
              <a:defRPr sz="1300">
                <a:solidFill>
                  <a:srgbClr val="5A5A5A"/>
                </a:solidFill>
                <a:latin typeface="Calibri"/>
              </a:defRPr>
            </a:pPr>
            <a:r>
              <a:rPr sz="975"/>
              <a:t>Tests and documentation; faster code understanding.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88770" y="2948939"/>
            <a:ext cx="4080510" cy="781811"/>
          </a:xfrm>
          <a:prstGeom prst="roundRect">
            <a:avLst/>
          </a:prstGeom>
          <a:solidFill>
            <a:srgbClr val="FFF1F0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19" name="Rectangle 18"/>
          <p:cNvSpPr/>
          <p:nvPr/>
        </p:nvSpPr>
        <p:spPr>
          <a:xfrm>
            <a:off x="1588770" y="2948939"/>
            <a:ext cx="82296" cy="781811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0" name="Oval 19"/>
          <p:cNvSpPr/>
          <p:nvPr/>
        </p:nvSpPr>
        <p:spPr>
          <a:xfrm>
            <a:off x="1760220" y="3127247"/>
            <a:ext cx="425196" cy="425196"/>
          </a:xfrm>
          <a:prstGeom prst="ellipse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>
              <a:defRPr sz="1600" b="1">
                <a:solidFill>
                  <a:srgbClr val="FFFFFF"/>
                </a:solidFill>
                <a:latin typeface="Calibri"/>
              </a:defRPr>
            </a:pPr>
            <a:r>
              <a:rPr sz="1200"/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94480" y="2996944"/>
            <a:ext cx="3241080" cy="28283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50" b="1">
                <a:solidFill>
                  <a:srgbClr val="8C2218"/>
                </a:solidFill>
                <a:latin typeface="Calibri"/>
              </a:defRPr>
            </a:pPr>
            <a:r>
              <a:rPr sz="1238" dirty="0"/>
              <a:t>What problems they can cause (if unmanaged)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08860" y="3242681"/>
            <a:ext cx="3223260" cy="542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A5A5A"/>
                </a:solidFill>
                <a:latin typeface="Calibri"/>
              </a:defRPr>
            </a:pPr>
            <a:r>
              <a:rPr sz="975" dirty="0"/>
              <a:t>Token cost spikes from excessive context.</a:t>
            </a:r>
          </a:p>
          <a:p>
            <a:pPr>
              <a:defRPr sz="1300">
                <a:solidFill>
                  <a:srgbClr val="5A5A5A"/>
                </a:solidFill>
                <a:latin typeface="Calibri"/>
              </a:defRPr>
            </a:pPr>
            <a:r>
              <a:rPr sz="975" dirty="0"/>
              <a:t>Inconsistent patterns + security/compliance gaps without strong validation.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77890" y="1165860"/>
            <a:ext cx="1303020" cy="2729484"/>
          </a:xfrm>
          <a:prstGeom prst="roundRect">
            <a:avLst/>
          </a:prstGeom>
          <a:solidFill>
            <a:srgbClr val="EAF3FF"/>
          </a:solidFill>
          <a:ln w="12700">
            <a:solidFill>
              <a:srgbClr val="DCE2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4" name="TextBox 23"/>
          <p:cNvSpPr txBox="1"/>
          <p:nvPr/>
        </p:nvSpPr>
        <p:spPr>
          <a:xfrm>
            <a:off x="6121909" y="1707825"/>
            <a:ext cx="1016625" cy="4385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0F2950"/>
                </a:solidFill>
                <a:latin typeface="Calibri"/>
              </a:defRPr>
            </a:pPr>
            <a:r>
              <a:rPr sz="1125" dirty="0"/>
              <a:t>Where agents</a:t>
            </a:r>
            <a:endParaRPr lang="en-IN" sz="1125" dirty="0"/>
          </a:p>
          <a:p>
            <a:pPr>
              <a:defRPr sz="1500" b="1">
                <a:solidFill>
                  <a:srgbClr val="0F2950"/>
                </a:solidFill>
                <a:latin typeface="Calibri"/>
              </a:defRPr>
            </a:pPr>
            <a:r>
              <a:rPr sz="1125" dirty="0"/>
              <a:t> help in SDLC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02486" y="4055353"/>
            <a:ext cx="5623560" cy="781811"/>
          </a:xfrm>
          <a:prstGeom prst="roundRect">
            <a:avLst/>
          </a:prstGeom>
          <a:solidFill>
            <a:srgbClr val="0F2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27" name="TextBox 26"/>
          <p:cNvSpPr txBox="1"/>
          <p:nvPr/>
        </p:nvSpPr>
        <p:spPr>
          <a:xfrm>
            <a:off x="1809148" y="4121658"/>
            <a:ext cx="1066895" cy="3000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FFFFFF"/>
                </a:solidFill>
                <a:latin typeface="Calibri"/>
              </a:defRPr>
            </a:pPr>
            <a:r>
              <a:rPr sz="1350" dirty="0"/>
              <a:t>AI LAB focus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70209" y="4135374"/>
            <a:ext cx="4112023" cy="24237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6EBF5"/>
                </a:solidFill>
                <a:latin typeface="Calibri"/>
              </a:defRPr>
            </a:pPr>
            <a:r>
              <a:rPr sz="975" dirty="0"/>
              <a:t>Building a governed framework for safe productivity gains (work in progress).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55068" y="4455042"/>
            <a:ext cx="1371600" cy="301752"/>
          </a:xfrm>
          <a:prstGeom prst="roundRect">
            <a:avLst/>
          </a:prstGeom>
          <a:solidFill>
            <a:srgbClr val="1F6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30" b="1">
                <a:solidFill>
                  <a:srgbClr val="FFFFFF"/>
                </a:solidFill>
                <a:latin typeface="Calibri"/>
              </a:defRPr>
            </a:pPr>
            <a:r>
              <a:rPr sz="923" dirty="0"/>
              <a:t>Smart Context (MCP)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691640" y="4471416"/>
            <a:ext cx="1440180" cy="301752"/>
          </a:xfrm>
          <a:prstGeom prst="roundRect">
            <a:avLst/>
          </a:prstGeom>
          <a:solidFill>
            <a:srgbClr val="1F6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30" b="1">
                <a:solidFill>
                  <a:srgbClr val="FFFFFF"/>
                </a:solidFill>
                <a:latin typeface="Calibri"/>
              </a:defRPr>
            </a:pPr>
            <a:r>
              <a:rPr sz="923"/>
              <a:t>Template Governance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120640" y="4471416"/>
            <a:ext cx="1851660" cy="301752"/>
          </a:xfrm>
          <a:prstGeom prst="roundRect">
            <a:avLst/>
          </a:prstGeom>
          <a:solidFill>
            <a:srgbClr val="1F6C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>
              <a:defRPr sz="1230" b="1">
                <a:solidFill>
                  <a:srgbClr val="FFFFFF"/>
                </a:solidFill>
                <a:latin typeface="Calibri"/>
              </a:defRPr>
            </a:pPr>
            <a:r>
              <a:rPr sz="923"/>
              <a:t>Automation: Design → Code</a:t>
            </a:r>
          </a:p>
        </p:txBody>
      </p:sp>
      <p:pic>
        <p:nvPicPr>
          <p:cNvPr id="33" name="Picture 32" descr="sdlc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766" y="2376812"/>
            <a:ext cx="1001268" cy="623048"/>
          </a:xfrm>
          <a:prstGeom prst="rect">
            <a:avLst/>
          </a:prstGeom>
        </p:spPr>
      </p:pic>
      <p:grpSp>
        <p:nvGrpSpPr>
          <p:cNvPr id="25" name="Group 24">
            <a:extLst>
              <a:ext uri="{FF2B5EF4-FFF2-40B4-BE49-F238E27FC236}">
                <a16:creationId xmlns:a16="http://schemas.microsoft.com/office/drawing/2014/main" id="{E49BADCF-C1E6-B586-C148-10D95350519C}"/>
              </a:ext>
            </a:extLst>
          </p:cNvPr>
          <p:cNvGrpSpPr/>
          <p:nvPr/>
        </p:nvGrpSpPr>
        <p:grpSpPr>
          <a:xfrm>
            <a:off x="6121909" y="274627"/>
            <a:ext cx="1419605" cy="418031"/>
            <a:chOff x="6588252" y="360501"/>
            <a:chExt cx="1892807" cy="557374"/>
          </a:xfrm>
        </p:grpSpPr>
        <p:sp>
          <p:nvSpPr>
            <p:cNvPr id="5" name="Rounded Rectangle 4"/>
            <p:cNvSpPr/>
            <p:nvPr/>
          </p:nvSpPr>
          <p:spPr>
            <a:xfrm>
              <a:off x="6606540" y="426032"/>
              <a:ext cx="1874519" cy="384048"/>
            </a:xfrm>
            <a:prstGeom prst="roundRect">
              <a:avLst/>
            </a:prstGeom>
            <a:solidFill>
              <a:srgbClr val="EAF3FF"/>
            </a:solidFill>
            <a:ln w="13970">
              <a:solidFill>
                <a:srgbClr val="1F6CD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 sz="1300" b="1">
                  <a:solidFill>
                    <a:srgbClr val="0F2950"/>
                  </a:solidFill>
                  <a:latin typeface="Calibri"/>
                </a:defRPr>
              </a:pPr>
              <a:r>
                <a:rPr lang="en-IN" sz="975" dirty="0"/>
                <a:t>                       AI LAB</a:t>
              </a:r>
              <a:endParaRPr sz="975" dirty="0"/>
            </a:p>
          </p:txBody>
        </p:sp>
        <p:pic>
          <p:nvPicPr>
            <p:cNvPr id="34" name="Picture 33" descr="coforge_logo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8252" y="360501"/>
              <a:ext cx="1206900" cy="557374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143000" y="0"/>
            <a:ext cx="68580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350"/>
          </a:p>
        </p:txBody>
      </p:sp>
      <p:sp>
        <p:nvSpPr>
          <p:cNvPr id="3" name="TextBox 2"/>
          <p:cNvSpPr txBox="1"/>
          <p:nvPr/>
        </p:nvSpPr>
        <p:spPr>
          <a:xfrm>
            <a:off x="1554480" y="240030"/>
            <a:ext cx="3753592" cy="46166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A1A1A"/>
                </a:solidFill>
              </a:defRPr>
            </a:pPr>
            <a:r>
              <a:t>Agents help across the SDLC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766560" y="240030"/>
            <a:ext cx="822960" cy="308610"/>
          </a:xfrm>
          <a:prstGeom prst="roundRect">
            <a:avLst/>
          </a:prstGeom>
          <a:solidFill>
            <a:srgbClr val="0B4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rPr sz="1050"/>
              <a:t>Back</a:t>
            </a:r>
          </a:p>
        </p:txBody>
      </p:sp>
      <p:pic>
        <p:nvPicPr>
          <p:cNvPr id="6" name="Picture 5" descr="sdlc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40" y="847999"/>
            <a:ext cx="5760720" cy="358466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8155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with Generic AI Coding Agents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845820"/>
            <a:ext cx="3931920" cy="2103120"/>
          </a:xfrm>
          <a:prstGeom prst="rect">
            <a:avLst/>
          </a:prstGeom>
          <a:solidFill>
            <a:srgbClr val="FFF5F5"/>
          </a:solidFill>
          <a:ln w="25400">
            <a:solidFill>
              <a:srgbClr val="E74C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9829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Generic Agents Waste Resources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13487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Send entire codebase = High token costs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org knowledge = Inconsistent output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Manual design-to-code = Slow delivery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Developers repeat prompts = Lost time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754880" y="845820"/>
            <a:ext cx="3931920" cy="2103120"/>
          </a:xfrm>
          <a:prstGeom prst="rect">
            <a:avLst/>
          </a:prstGeom>
          <a:solidFill>
            <a:srgbClr val="F0F9FF"/>
          </a:solidFill>
          <a:ln w="25400">
            <a:solidFill>
              <a:srgbClr val="01BA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9829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Our Intelligent Framework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937760" y="13487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Smart context = 40-60% cost reduction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Pre-built intelligence = Guaranteed quality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Figma automation = 60% faster UI dev</a:t>
            </a:r>
            <a:endParaRPr lang="en-US" sz="1300" dirty="0"/>
          </a:p>
          <a:p>
            <a:pPr marL="0" indent="0">
              <a:lnSpc>
                <a:spcPts val="2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Reusable templates = Instant consistency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74320" y="321183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Three-Layer Intelligence Architecture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577590"/>
            <a:ext cx="2560320" cy="137160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71475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1B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48640" y="398907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453771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BFB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Orchestration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577590"/>
            <a:ext cx="2560320" cy="1371600"/>
          </a:xfrm>
          <a:prstGeom prst="rect">
            <a:avLst/>
          </a:prstGeom>
          <a:solidFill>
            <a:srgbClr val="01BAEF"/>
          </a:solidFill>
          <a:ln/>
        </p:spPr>
      </p:sp>
      <p:sp>
        <p:nvSpPr>
          <p:cNvPr id="15" name="Text 13"/>
          <p:cNvSpPr/>
          <p:nvPr/>
        </p:nvSpPr>
        <p:spPr>
          <a:xfrm>
            <a:off x="3200400" y="371475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200400" y="398907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Design-to-Code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00400" y="453771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Figma→Code Pipeline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852160" y="3577590"/>
            <a:ext cx="2560320" cy="1371600"/>
          </a:xfrm>
          <a:prstGeom prst="rect">
            <a:avLst/>
          </a:prstGeom>
          <a:solidFill>
            <a:srgbClr val="20A4F3"/>
          </a:solidFill>
          <a:ln/>
        </p:spPr>
      </p:sp>
      <p:sp>
        <p:nvSpPr>
          <p:cNvPr id="19" name="Text 17"/>
          <p:cNvSpPr/>
          <p:nvPr/>
        </p:nvSpPr>
        <p:spPr>
          <a:xfrm>
            <a:off x="5852160" y="3714750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852160" y="398907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Orchestration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852160" y="453771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Context Control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108960" y="4171950"/>
            <a:ext cx="320040" cy="182880"/>
          </a:xfrm>
          <a:prstGeom prst="rightArrow">
            <a:avLst/>
          </a:prstGeom>
          <a:solidFill>
            <a:srgbClr val="1A1A1A"/>
          </a:solidFill>
          <a:ln/>
        </p:spPr>
      </p:sp>
      <p:sp>
        <p:nvSpPr>
          <p:cNvPr id="23" name="Shape 21"/>
          <p:cNvSpPr/>
          <p:nvPr/>
        </p:nvSpPr>
        <p:spPr>
          <a:xfrm>
            <a:off x="5760720" y="4171950"/>
            <a:ext cx="320040" cy="182880"/>
          </a:xfrm>
          <a:prstGeom prst="rightArrow">
            <a:avLst/>
          </a:prstGeom>
          <a:solidFill>
            <a:srgbClr val="1A1A1A"/>
          </a:solidFill>
          <a:ln/>
        </p:spPr>
      </p:sp>
      <p:sp>
        <p:nvSpPr>
          <p:cNvPr id="24" name="Text 22"/>
          <p:cNvSpPr/>
          <p:nvPr/>
        </p:nvSpPr>
        <p:spPr>
          <a:xfrm>
            <a:off x="274320" y="2999056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 that knows your organization, not generic chatbots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4F6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This Intelligent?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1B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adds intelligence that generic agents lack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8229600" cy="39547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371601"/>
            <a:ext cx="7863840" cy="1051560"/>
          </a:xfrm>
          <a:prstGeom prst="rect">
            <a:avLst/>
          </a:prstGeom>
          <a:solidFill>
            <a:srgbClr val="F8F9F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5087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371600" y="146304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Layer: Your Organization's DNA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78308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 inject your coding standards, security rules, and patterns into every AI interaction.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95%+ consistency. No hoping—guaranteed.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2606041"/>
            <a:ext cx="7863840" cy="1051560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0" name="Text 8"/>
          <p:cNvSpPr/>
          <p:nvPr/>
        </p:nvSpPr>
        <p:spPr>
          <a:xfrm>
            <a:off x="822960" y="2787492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1B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371600" y="267605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Layer: Figma Screens → Production Code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304181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pipeline reads Figma, applies UI/UX prompts, generates pixel-perfect components.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Designers hand off → Code ready in hours. 60-70% faster.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7538" y="3883342"/>
            <a:ext cx="7863840" cy="1200369"/>
          </a:xfrm>
          <a:prstGeom prst="rect">
            <a:avLst/>
          </a:prstGeom>
          <a:solidFill>
            <a:srgbClr val="F8F9FA"/>
          </a:solidFill>
          <a:ln/>
        </p:spPr>
        <p:txBody>
          <a:bodyPr/>
          <a:lstStyle/>
          <a:p>
            <a:endParaRPr lang="en-IN" dirty="0"/>
          </a:p>
        </p:txBody>
      </p:sp>
      <p:sp>
        <p:nvSpPr>
          <p:cNvPr id="14" name="Text 12"/>
          <p:cNvSpPr/>
          <p:nvPr/>
        </p:nvSpPr>
        <p:spPr>
          <a:xfrm>
            <a:off x="822960" y="4148431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20A4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4050508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Layer: Smart Context, Not Wasteful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4372415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AI to GitHub, Figma, Jira. Fetches ONLY relevant files, orchestrates end-to-end.</a:t>
            </a:r>
            <a:endParaRPr lang="en-US" sz="1200" dirty="0"/>
          </a:p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40-60% lower token costs. AI reads→writes→tests→commits automatically.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IN" sz="3600" dirty="0"/>
              <a:t>Measurable Business Impact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Concrete, measurable impact on your bottom line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138428"/>
            <a:ext cx="4114800" cy="3982212"/>
          </a:xfrm>
          <a:prstGeom prst="rect">
            <a:avLst/>
          </a:prstGeom>
          <a:solidFill>
            <a:srgbClr val="F0F9F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2115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&amp; Productivity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40080" y="1664208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1B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30-50%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640080" y="2129497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Feature Delivery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525151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1B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50-60%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640080" y="301523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UI Dev Time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3386445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1B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640080" y="3919083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Manual Testing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291261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1BAE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25-35%</a:t>
            </a:r>
            <a:endParaRPr lang="en-US" sz="4800" dirty="0"/>
          </a:p>
        </p:txBody>
      </p:sp>
      <p:sp>
        <p:nvSpPr>
          <p:cNvPr id="13" name="Text 11"/>
          <p:cNvSpPr/>
          <p:nvPr/>
        </p:nvSpPr>
        <p:spPr>
          <a:xfrm>
            <a:off x="640080" y="4797699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Reduction in Rework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663440" y="1134647"/>
            <a:ext cx="4114800" cy="3964803"/>
          </a:xfrm>
          <a:prstGeom prst="rect">
            <a:avLst/>
          </a:prstGeom>
          <a:solidFill>
            <a:srgbClr val="FFF9F0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0" y="1218614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B4F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&amp; Quality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800600" y="1652954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0C4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40-60%</a:t>
            </a:r>
            <a:endParaRPr lang="en-US" sz="4800" dirty="0"/>
          </a:p>
        </p:txBody>
      </p:sp>
      <p:sp>
        <p:nvSpPr>
          <p:cNvPr id="17" name="Text 15"/>
          <p:cNvSpPr/>
          <p:nvPr/>
        </p:nvSpPr>
        <p:spPr>
          <a:xfrm>
            <a:off x="4846320" y="2164314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AI Token Costs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54880" y="2518644"/>
            <a:ext cx="3749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Guarantees: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754880" y="2861017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95%+ code consistency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754880" y="3127248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Built-in security validation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754880" y="3426187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Pixel-perfect design fidelity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754880" y="3696286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End-to-end automation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754880" y="3953109"/>
            <a:ext cx="37490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50% faster onboarding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846320" y="4351665"/>
            <a:ext cx="3749040" cy="640080"/>
          </a:xfrm>
          <a:prstGeom prst="rect">
            <a:avLst/>
          </a:prstGeom>
          <a:solidFill>
            <a:srgbClr val="0B4F6C"/>
          </a:solidFill>
          <a:ln/>
        </p:spPr>
      </p:sp>
      <p:sp>
        <p:nvSpPr>
          <p:cNvPr id="25" name="Text 23"/>
          <p:cNvSpPr/>
          <p:nvPr/>
        </p:nvSpPr>
        <p:spPr>
          <a:xfrm>
            <a:off x="4536831" y="4437302"/>
            <a:ext cx="424140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difference:  </a:t>
            </a:r>
            <a:r>
              <a:rPr lang="en-US" sz="12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Intellegence</a:t>
            </a: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just automation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466</Words>
  <Application>Microsoft Office PowerPoint</Application>
  <PresentationFormat>On-screen Show (16:9)</PresentationFormat>
  <Paragraphs>87</Paragraphs>
  <Slides>5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Intelligent AI Development Framework - American Airlines</dc:title>
  <dc:subject>Demo Presentation</dc:subject>
  <dc:creator>AI Development Framework</dc:creator>
  <cp:lastModifiedBy>Jainmiah Shaik</cp:lastModifiedBy>
  <cp:revision>3</cp:revision>
  <dcterms:created xsi:type="dcterms:W3CDTF">2026-02-11T09:22:57Z</dcterms:created>
  <dcterms:modified xsi:type="dcterms:W3CDTF">2026-02-12T07:21:02Z</dcterms:modified>
</cp:coreProperties>
</file>